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8F4F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E8F4F8"/>
                </a:solidFill>
                <a:latin typeface="Arial"/>
              </a:rPr>
              <a:t>IDS Accuracy vs Privacy Budget (ε)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A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AAB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ε=0.5
(Strong)</c:v>
                  </c:pt>
                  <c:pt idx="1">
                    <c:v>ε=1.0</c:v>
                  </c:pt>
                  <c:pt idx="2">
                    <c:v>ε=2.0
(SHIP)</c:v>
                  </c:pt>
                  <c:pt idx="3">
                    <c:v>ε=5.0</c:v>
                  </c:pt>
                  <c:pt idx="4">
                    <c:v>No DP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91.2</c:v>
                </c:pt>
                <c:pt idx="1">
                  <c:v>95.48</c:v>
                </c:pt>
                <c:pt idx="2">
                  <c:v>96.7</c:v>
                </c:pt>
                <c:pt idx="3">
                  <c:v>97.1</c:v>
                </c:pt>
                <c:pt idx="4">
                  <c:v>97.4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F4F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8"/>
          <c:min val="88"/>
        </c:scaling>
        <c:delete val="0"/>
        <c:axPos val="l"/>
        <c:majorGridlines>
          <c:spPr>
            <a:ln w="6350" cap="flat">
              <a:solidFill>
                <a:srgbClr val="1E3A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F4F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233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Authentication Latency Comparison (ms)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Auth Latency (ms)</c:v>
                </c:pt>
              </c:strCache>
            </c:strRef>
          </c:tx>
          <c:spPr>
            <a:solidFill>
              <a:srgbClr val="E63B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44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B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A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RSA-3072</c:v>
                  </c:pt>
                  <c:pt idx="1">
                    <c:v>ECC P-256</c:v>
                  </c:pt>
                  <c:pt idx="2">
                    <c:v>LAAP Curve25519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329</c:v>
                </c:pt>
                <c:pt idx="1">
                  <c:v>210</c:v>
                </c:pt>
                <c:pt idx="2">
                  <c:v>92.22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44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-182880"/>
            <a:ext cx="2560320" cy="2560320"/>
          </a:xfrm>
          <a:prstGeom prst="ellipse">
            <a:avLst/>
          </a:prstGeom>
          <a:solidFill>
            <a:srgbClr val="1C7293">
              <a:alpha val="8000"/>
            </a:srgbClr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3017520"/>
            <a:ext cx="1645920" cy="1645920"/>
          </a:xfrm>
          <a:prstGeom prst="ellipse">
            <a:avLst/>
          </a:prstGeom>
          <a:solidFill>
            <a:srgbClr val="1C7293">
              <a:alpha val="6000"/>
            </a:srgbClr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0" y="2743200"/>
            <a:ext cx="914400" cy="914400"/>
          </a:xfrm>
          <a:prstGeom prst="ellipse">
            <a:avLst/>
          </a:prstGeom>
          <a:solidFill>
            <a:srgbClr val="1C7293">
              <a:alpha val="5000"/>
            </a:srgbClr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486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Blockchain-Enabled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117043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Quantum-Resistant Healthcare Systems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19568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LAAP · NIST PQC (FIPS 203/204) · DP-FL · Blockchain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359152"/>
            <a:ext cx="64008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237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04288" y="252374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  |   Roll No.: [Roll No.]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9443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04288" y="29443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[Guide Name]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3649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04288" y="33649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· School of CSE · Manipal University Jaipur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7856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04288" y="378561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Based Learning 2/4  ·  Jan – May 2026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82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End-Term Project Report  ·  Academic Defense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Introduction: The IoMT Healthcare Revolution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architectures are no longer sufficient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286000" cy="1280160"/>
          </a:xfrm>
          <a:prstGeom prst="rect">
            <a:avLst/>
          </a:prstGeom>
          <a:solidFill>
            <a:srgbClr val="132337"/>
          </a:solidFill>
          <a:ln w="15240">
            <a:solidFill>
              <a:srgbClr val="F0A5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28600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$260B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21945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IoMT Market by 2027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450592"/>
            <a:ext cx="2286000" cy="1280160"/>
          </a:xfrm>
          <a:prstGeom prst="rect">
            <a:avLst/>
          </a:prstGeom>
          <a:solidFill>
            <a:srgbClr val="132337"/>
          </a:solidFill>
          <a:ln w="15240">
            <a:solidFill>
              <a:srgbClr val="E63B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450592"/>
            <a:ext cx="2286000" cy="50292"/>
          </a:xfrm>
          <a:prstGeom prst="rect">
            <a:avLst/>
          </a:prstGeom>
          <a:solidFill>
            <a:srgbClr val="E63B50"/>
          </a:solidFill>
          <a:ln w="12700">
            <a:solidFill>
              <a:srgbClr val="E63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56946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79M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0040" y="3182112"/>
            <a:ext cx="21945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exposed — Anthem 2015 Breach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849624"/>
            <a:ext cx="2286000" cy="1024128"/>
          </a:xfrm>
          <a:prstGeom prst="rect">
            <a:avLst/>
          </a:prstGeom>
          <a:solidFill>
            <a:srgbClr val="132337"/>
          </a:solidFill>
          <a:ln w="15240">
            <a:solidFill>
              <a:srgbClr val="00D4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849624"/>
            <a:ext cx="2286000" cy="502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94106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WannaCry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" y="4315968"/>
            <a:ext cx="21945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paralysed the entire UK NHS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52928" y="1088136"/>
            <a:ext cx="402336" cy="40233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52928" y="1088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115214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IoMT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1353312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Wearables, implantables &amp; remote sensors generating continuous patient telemetry in real-time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26080" y="1810512"/>
            <a:ext cx="5943600" cy="16459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52928" y="1869948"/>
            <a:ext cx="402336" cy="40233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52928" y="18699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19339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2135124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EHR databases create single points of failure — one breach = millions exposed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26080" y="2592324"/>
            <a:ext cx="5943600" cy="16459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52928" y="2651760"/>
            <a:ext cx="402336" cy="40233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5292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37560" y="27157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37560" y="2916936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Blockchain + IPFS architecture eliminates central attack vectors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926080" y="3374136"/>
            <a:ext cx="5943600" cy="16459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52928" y="3433572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52928" y="34335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37560" y="34975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37560" y="3698748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IoMT devices are resource-constrained — classical crypto (RSA/ECC) is simply too heavy to run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926080" y="4155948"/>
            <a:ext cx="5943600" cy="16459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52928" y="4215384"/>
            <a:ext cx="402336" cy="402336"/>
          </a:xfrm>
          <a:prstGeom prst="ellipse">
            <a:avLst/>
          </a:prstGeom>
          <a:solidFill>
            <a:srgbClr val="E63B50"/>
          </a:solidFill>
          <a:ln w="12700">
            <a:solidFill>
              <a:srgbClr val="E63B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52928" y="4215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37560" y="42793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37560" y="448056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Shor's algorithm on a quantum computer will break all deployed RSA &amp; ECC — harvest-now attacks are live today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A Three-Layer Security Crisis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Converging threats demanding a unified architectural response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54864" cy="5486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2816352" cy="3858768"/>
          </a:xfrm>
          <a:prstGeom prst="rect">
            <a:avLst/>
          </a:prstGeom>
          <a:solidFill>
            <a:srgbClr val="132337"/>
          </a:solidFill>
          <a:ln w="15240">
            <a:solidFill>
              <a:srgbClr val="F0A5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816352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33856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33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8328" y="1783080"/>
            <a:ext cx="2596896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Resource Constraints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6616" y="2286000"/>
            <a:ext cx="256032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IoMT MCUs: 8–32 bit, ≤512 KB RAM, battery-limited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RSA-3072 auth latency: &gt;2,000 ms on embedded hardware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Classical crypto exhausts CPU &amp; battery before clinical use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O(k³) modular exponentiation — computationally prohibitive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" y="4206240"/>
            <a:ext cx="256032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" y="42062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71.96%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62456" y="4206240"/>
            <a:ext cx="15544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reduction needed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72968" y="1005840"/>
            <a:ext cx="2816352" cy="3858768"/>
          </a:xfrm>
          <a:prstGeom prst="rect">
            <a:avLst/>
          </a:prstGeom>
          <a:solidFill>
            <a:srgbClr val="132337"/>
          </a:solidFill>
          <a:ln w="15240">
            <a:solidFill>
              <a:srgbClr val="E63B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005840"/>
            <a:ext cx="2816352" cy="50292"/>
          </a:xfrm>
          <a:prstGeom prst="rect">
            <a:avLst/>
          </a:prstGeom>
          <a:solidFill>
            <a:srgbClr val="E63B50"/>
          </a:solidFill>
          <a:ln w="12700">
            <a:solidFill>
              <a:srgbClr val="E63B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55848" y="1133856"/>
            <a:ext cx="548640" cy="548640"/>
          </a:xfrm>
          <a:prstGeom prst="ellipse">
            <a:avLst/>
          </a:prstGeom>
          <a:solidFill>
            <a:srgbClr val="E63B50"/>
          </a:solidFill>
          <a:ln w="12700">
            <a:solidFill>
              <a:srgbClr val="E63B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133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82696" y="1783080"/>
            <a:ext cx="2596896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Threat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300984" y="2286000"/>
            <a:ext cx="256032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Shor's Algorithm breaks RSA &amp; ECC in polynomial 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"Harvest Now, Decrypt Later" — EHR archives at risk today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Genetic &amp; biometric data: lifelong sensitivity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CRQC projection: feasible within the next decade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00984" y="4206240"/>
            <a:ext cx="256032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E63B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00984" y="42062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306824" y="4206240"/>
            <a:ext cx="15544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deployed PKI vulnerable to CRQC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17336" y="1005840"/>
            <a:ext cx="2816352" cy="3858768"/>
          </a:xfrm>
          <a:prstGeom prst="rect">
            <a:avLst/>
          </a:prstGeom>
          <a:solidFill>
            <a:srgbClr val="132337"/>
          </a:solidFill>
          <a:ln w="15240">
            <a:solidFill>
              <a:srgbClr val="00D4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17336" y="1005840"/>
            <a:ext cx="2816352" cy="502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0216" y="1133856"/>
            <a:ext cx="548640" cy="5486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1133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27064" y="1783080"/>
            <a:ext cx="2596896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AI &amp; Privacy Risk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245352" y="2286000"/>
            <a:ext cx="256032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 ML for IDS requires raw patient data aggregation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Violates GDPR data minimization &amp; HIPAA minimum-necessary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Centralized models vulnerable to poisoning &amp; inference attacks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formal correctness guarantee on smart contract logic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45352" y="4206240"/>
            <a:ext cx="256032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45352" y="42062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95.48%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251192" y="4206240"/>
            <a:ext cx="15544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IDS accuracy with privacy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Research Gaps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Evolutionary analysis: Classical crypto → Lightweight → Post-Quantum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024128"/>
          <a:ext cx="8631936" cy="3383280"/>
        </p:xfrm>
        <a:graphic>
          <a:graphicData uri="http://schemas.openxmlformats.org/drawingml/2006/table">
            <a:tbl>
              <a:tblPr/>
              <a:tblGrid>
                <a:gridCol w="1481328"/>
                <a:gridCol w="1572768"/>
                <a:gridCol w="1024128"/>
                <a:gridCol w="1389888"/>
                <a:gridCol w="841248"/>
                <a:gridCol w="12801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Primitive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Hard Problem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Size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Time Complexity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Quantum Safe?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IoMT Suitability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RSA-3072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Integer Factorization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3072 bits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O(k³)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3B50"/>
                          </a:solidFill>
                        </a:rPr>
                        <a:t>NO 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Not Suitable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ECC (P-256)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EC Discrete Log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256 bits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O(k²)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3B50"/>
                          </a:solidFill>
                        </a:rPr>
                        <a:t>NO 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Moderate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LAAP (Curve25519)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EC Discrete Log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256 bits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O(k²) / O(1)*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3B50"/>
                          </a:solidFill>
                        </a:rPr>
                        <a:t>NO 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Highly Suitable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ML-KEM (FIPS 203)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Module-LWE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800 B (pk)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O(n log n) NTT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50"/>
                          </a:solidFill>
                        </a:rPr>
                        <a:t>YES 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Gateway/WAN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ML-DSA (FIPS 204)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Module-SIS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1312 B (pk)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O(n log n) NTT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50"/>
                          </a:solidFill>
                        </a:rPr>
                        <a:t>YES 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Gateway/WAN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TinyAES / SPECK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Symmetric Permutation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128 bits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O(1)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50"/>
                          </a:solidFill>
                        </a:rPr>
                        <a:t>YES 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Device Layer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56032" y="4498848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O(1) server-side search via symmetric key indexing. All classical schemes broken by Shor's algorithm on CRQC.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56032" y="4718304"/>
            <a:ext cx="8631936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4718304"/>
            <a:ext cx="64008" cy="329184"/>
          </a:xfrm>
          <a:prstGeom prst="rect">
            <a:avLst/>
          </a:prstGeom>
          <a:solidFill>
            <a:srgbClr val="E63B50"/>
          </a:solidFill>
          <a:ln w="12700">
            <a:solidFill>
              <a:srgbClr val="E63B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4718304"/>
            <a:ext cx="8321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GAP: No deployed framework integrates quantum resistance + lightweight IoMT auth + privacy-preserving AI + formal verification in a single architecture.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measurable goals of the SHIP framework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54864" cy="5486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33272"/>
            <a:ext cx="548640" cy="5486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33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" y="1088136"/>
            <a:ext cx="566928" cy="23774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08813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91056" y="10515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LAAP Lightweight Authentication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91056" y="13441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Curve25519 ECDH protocol achieving O(1) server search &amp; ≥70% overhead reduction vs. RSA-3072 on IoMT MCUs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6032" y="1709928"/>
            <a:ext cx="8631936" cy="16459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819656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819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2688" y="1874520"/>
            <a:ext cx="566928" cy="23774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187452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91056" y="183794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Integration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591056" y="213055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NIST FIPS 203 (ML-KEM) + FIPS 204 (ML-DSA) for WAN security; mitigate payload inflation via TCP initcwnd tuning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6032" y="2496312"/>
            <a:ext cx="8631936" cy="16459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60604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2688" y="2660904"/>
            <a:ext cx="566928" cy="2377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266090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91056" y="262432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 Federated Learning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591056" y="291693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DP-FL IDS at gateway layer; ≥95% accuracy at ε=2.0, δ=10⁻⁵ using Gaussian noise mechanism with FedAvg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56032" y="3282696"/>
            <a:ext cx="8631936" cy="16459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3392424"/>
            <a:ext cx="548640" cy="5486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3924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32688" y="3447288"/>
            <a:ext cx="566928" cy="23774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34472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591056" y="34107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CP-ABE Access Control (HIPAA/GDPR)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591056" y="370332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LSSS-based CP-ABE for hybrid IPFS/Blockchain storage; GDPR Art.17 via key revocation; HIPAA minimum-necessary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56032" y="4069080"/>
            <a:ext cx="8631936" cy="16459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4178808"/>
            <a:ext cx="548640" cy="548640"/>
          </a:xfrm>
          <a:prstGeom prst="ellipse">
            <a:avLst/>
          </a:prstGeom>
          <a:solidFill>
            <a:srgbClr val="E63B50"/>
          </a:solidFill>
          <a:ln w="12700">
            <a:solidFill>
              <a:srgbClr val="E63B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32688" y="4233672"/>
            <a:ext cx="566928" cy="237744"/>
          </a:xfrm>
          <a:prstGeom prst="rect">
            <a:avLst/>
          </a:prstGeom>
          <a:solidFill>
            <a:srgbClr val="E63B50"/>
          </a:solidFill>
          <a:ln w="12700">
            <a:solidFill>
              <a:srgbClr val="E63B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" y="42336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591056" y="41970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Smart Contract Verification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591056" y="448970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healthcare smart contract safety &amp; liveness via Linear Temporal Logic (LTL) model checking using SPIN/NuSMV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Architecture: SHIP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Hybrid IoMT Protocol — Four-Tier Cryptographic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54864" cy="5486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60120"/>
            <a:ext cx="8631936" cy="859536"/>
          </a:xfrm>
          <a:prstGeom prst="rect">
            <a:avLst/>
          </a:prstGeom>
          <a:solidFill>
            <a:srgbClr val="132337"/>
          </a:solidFill>
          <a:ln w="15240">
            <a:solidFill>
              <a:srgbClr val="F0A5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64008" cy="85953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" y="1088136"/>
            <a:ext cx="822960" cy="21945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0881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35024" y="10515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Layer  (IoMT Perception)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35024" y="1325880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LAAP Curve25519 ECDH  ·  AES-128-GCM  ·  Constrained MCUs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35024" y="154533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 ·  Implantables  ·  ECG Patches  ·  Glucose Sensors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15968" y="1819656"/>
            <a:ext cx="54864" cy="109728"/>
          </a:xfrm>
          <a:prstGeom prst="rect">
            <a:avLst/>
          </a:prstGeom>
          <a:solidFill>
            <a:srgbClr val="8BAAB8"/>
          </a:solidFill>
          <a:ln w="12700">
            <a:solidFill>
              <a:srgbClr val="8BAA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929384"/>
            <a:ext cx="8631936" cy="859536"/>
          </a:xfrm>
          <a:prstGeom prst="rect">
            <a:avLst/>
          </a:prstGeom>
          <a:solidFill>
            <a:srgbClr val="132337"/>
          </a:solidFill>
          <a:ln w="15240">
            <a:solidFill>
              <a:srgbClr val="00D4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929384"/>
            <a:ext cx="64008" cy="85953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" y="2057400"/>
            <a:ext cx="822960" cy="21945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0574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35024" y="20208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Layer  (Edge Compute)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35024" y="2295144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DP-FL (FedAvg)  ·  CP-ABE Encrypt  ·  IPFS Upload  ·  ARM Cortex-A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35024" y="251460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Edge Nodes  ·  Clinic Gateways  ·  IoMT Aggregators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15968" y="2788920"/>
            <a:ext cx="54864" cy="109728"/>
          </a:xfrm>
          <a:prstGeom prst="rect">
            <a:avLst/>
          </a:prstGeom>
          <a:solidFill>
            <a:srgbClr val="8BAAB8"/>
          </a:solidFill>
          <a:ln w="12700">
            <a:solidFill>
              <a:srgbClr val="8BAA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898648"/>
            <a:ext cx="8631936" cy="859536"/>
          </a:xfrm>
          <a:prstGeom prst="rect">
            <a:avLst/>
          </a:prstGeom>
          <a:solidFill>
            <a:srgbClr val="132337"/>
          </a:solidFill>
          <a:ln w="1524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898648"/>
            <a:ext cx="64008" cy="85953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" y="3026664"/>
            <a:ext cx="822960" cy="21945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026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35024" y="29900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Layer  (Health Authority)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35024" y="3264408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ML-KEM-768 + ML-DSA-65  ·  PQC TLS 1.3  ·  FL Aggregator  ·  IPFS Cluster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335024" y="348386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Mgmt (CP-ABE)  ·  Model Aggregator  ·  Compliance Engine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15968" y="3758184"/>
            <a:ext cx="54864" cy="109728"/>
          </a:xfrm>
          <a:prstGeom prst="rect">
            <a:avLst/>
          </a:prstGeom>
          <a:solidFill>
            <a:srgbClr val="8BAAB8"/>
          </a:solidFill>
          <a:ln w="12700">
            <a:solidFill>
              <a:srgbClr val="8BAA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3867912"/>
            <a:ext cx="8631936" cy="859536"/>
          </a:xfrm>
          <a:prstGeom prst="rect">
            <a:avLst/>
          </a:prstGeom>
          <a:solidFill>
            <a:srgbClr val="132337"/>
          </a:solidFill>
          <a:ln w="1524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3867912"/>
            <a:ext cx="64008" cy="8595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" y="3995928"/>
            <a:ext cx="822960" cy="21945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39959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35024" y="39593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Layer  (Blockchain)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35024" y="423367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LTL-Verified Contract  ·  On-Chain CID Registry  ·  RBAC  ·  Audit Log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335024" y="445312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Nodes  ·  Immutable Ledger  ·  Zero PHI On-Chain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 rot="5400000">
            <a:off x="8887968" y="1645920"/>
            <a:ext cx="182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LAYERING PRINCIPLE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Layer: LAAP Protocol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Adaptive Authentication Protocol on Curve25519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33272"/>
            <a:ext cx="3931920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33272"/>
            <a:ext cx="64008" cy="8778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078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Curve25519 ECDH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0624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Montgomery curve with ladder arithmetic — constant-time, side-channel resistant scalar multiplication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2020824"/>
            <a:ext cx="3931920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2020824"/>
            <a:ext cx="64008" cy="87782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0665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Device Lookup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0624" y="23591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Symmetric-cipher indexed registry; server search scales to 10,000+ devices with zero latency penalty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3008376"/>
            <a:ext cx="3931920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3008376"/>
            <a:ext cx="64008" cy="87782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0540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Forward Secrecy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0624" y="33467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ephemeral key pair (k_i, k_g) per session — past sessions secure even if long-term keys are later compromised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3995928"/>
            <a:ext cx="3931920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3995928"/>
            <a:ext cx="64008" cy="8778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4041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Key Derivation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20624" y="43342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K_sess = HKDF-SHA256(S, 'SHIP-v1.0', ID_i ‖ ID_g) — authenticated with AES-128-GCM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033272"/>
            <a:ext cx="4297680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033272"/>
            <a:ext cx="1005840" cy="69494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033272"/>
            <a:ext cx="100584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50992" y="1088136"/>
            <a:ext cx="3127248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ephemeral pair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(k_i_eph, R_i = k_i·G)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1728216"/>
            <a:ext cx="54864" cy="128016"/>
          </a:xfrm>
          <a:prstGeom prst="rect">
            <a:avLst/>
          </a:prstGeom>
          <a:solidFill>
            <a:srgbClr val="8BAAB8"/>
          </a:solidFill>
          <a:ln w="12700">
            <a:solidFill>
              <a:srgbClr val="8BAA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1856232"/>
            <a:ext cx="4297680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856232"/>
            <a:ext cx="1005840" cy="69494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1856232"/>
            <a:ext cx="100584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GATEWAY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50992" y="1911096"/>
            <a:ext cx="3127248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{ID_i, R_i, HMAC(ts)}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75120" y="2551176"/>
            <a:ext cx="54864" cy="128016"/>
          </a:xfrm>
          <a:prstGeom prst="rect">
            <a:avLst/>
          </a:prstGeom>
          <a:solidFill>
            <a:srgbClr val="8BAAB8"/>
          </a:solidFill>
          <a:ln w="12700">
            <a:solidFill>
              <a:srgbClr val="8BAA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2679192"/>
            <a:ext cx="4297680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2679192"/>
            <a:ext cx="1005840" cy="69494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2679192"/>
            <a:ext cx="100584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50992" y="2734056"/>
            <a:ext cx="3127248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lookup Q_i;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ECDH: S = k_g · R_i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75120" y="3374136"/>
            <a:ext cx="54864" cy="128016"/>
          </a:xfrm>
          <a:prstGeom prst="rect">
            <a:avLst/>
          </a:prstGeom>
          <a:solidFill>
            <a:srgbClr val="8BAAB8"/>
          </a:solidFill>
          <a:ln w="12700">
            <a:solidFill>
              <a:srgbClr val="8BAA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0" y="3502152"/>
            <a:ext cx="4297680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3502152"/>
            <a:ext cx="1005840" cy="6949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3502152"/>
            <a:ext cx="100584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DEVICE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650992" y="3557016"/>
            <a:ext cx="3127248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K_sess = HKDF(S,...)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MAC verify ✓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75120" y="4197096"/>
            <a:ext cx="54864" cy="128016"/>
          </a:xfrm>
          <a:prstGeom prst="rect">
            <a:avLst/>
          </a:prstGeom>
          <a:solidFill>
            <a:srgbClr val="8BAAB8"/>
          </a:solidFill>
          <a:ln w="12700">
            <a:solidFill>
              <a:srgbClr val="8BAA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0" y="4325112"/>
            <a:ext cx="4297680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0" y="4325112"/>
            <a:ext cx="1005840" cy="69494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4325112"/>
            <a:ext cx="100584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650992" y="4379976"/>
            <a:ext cx="3127248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AES-128-GCM  ·  92.22 ms  ·  PFS 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0" y="4754880"/>
            <a:ext cx="429768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72000" y="4754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92.22 ms  ·  71.96% faster than RSA-3072  ·  O(1) server search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Layer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FIPS 203 (ML-KEM) &amp; FIPS 204 (ML-DSA) — August 2024 Standards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54864" cy="5486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60120"/>
            <a:ext cx="8631936" cy="694944"/>
          </a:xfrm>
          <a:prstGeom prst="rect">
            <a:avLst/>
          </a:prstGeom>
          <a:solidFill>
            <a:srgbClr val="132337"/>
          </a:solidFill>
          <a:ln w="15240">
            <a:solidFill>
              <a:srgbClr val="F0A5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8631936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024128"/>
            <a:ext cx="83210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Foundation: Module Learning With Errors (M-LWE) over polynomial ring  Rq = Zq[X]/(Xⁿ+1),  n=256, q=3329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6032" y="1773936"/>
            <a:ext cx="4206240" cy="1627632"/>
          </a:xfrm>
          <a:prstGeom prst="rect">
            <a:avLst/>
          </a:prstGeom>
          <a:solidFill>
            <a:srgbClr val="132337"/>
          </a:solidFill>
          <a:ln w="15240">
            <a:solidFill>
              <a:srgbClr val="00D4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773936"/>
            <a:ext cx="4206240" cy="502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81051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(FIPS 203)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" y="210312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CRYSTALS-Kyber  ·  Key Encapsulation Mechanism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2340864"/>
          <a:ext cx="4059936" cy="969264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005840"/>
                <a:gridCol w="1042416"/>
              </a:tblGrid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Variant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Pubkey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Ciphertext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NIST Level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ML-KEM-512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800 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768 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Level 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</a:rPr>
                        <a:t>ML-KEM-768*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</a:rPr>
                        <a:t>1184 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</a:rPr>
                        <a:t>1088 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</a:rPr>
                        <a:t>Level 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1E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ML-KEM-1024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1568 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1568 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Level 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02336" y="336499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SHIP uses ML-KEM-768 on WAN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681728" y="1773936"/>
            <a:ext cx="4206240" cy="1627632"/>
          </a:xfrm>
          <a:prstGeom prst="rect">
            <a:avLst/>
          </a:prstGeom>
          <a:solidFill>
            <a:srgbClr val="132337"/>
          </a:solidFill>
          <a:ln w="1524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81728" y="1773936"/>
            <a:ext cx="4206240" cy="502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181051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ML-DSA (FIPS 204)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28032" y="210312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CRYSTALS-Dilithium  ·  Digital Signature Algorithm</a:t>
            </a:r>
            <a:endParaRPr lang="en-US" sz="10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340864"/>
          <a:ext cx="4059936" cy="969264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005840"/>
                <a:gridCol w="1042416"/>
              </a:tblGrid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Variant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Pubkey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Signature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NIST Level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ML-DSA-44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1312 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2420 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Level 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</a:rPr>
                        <a:t>ML-DSA-65*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</a:rPr>
                        <a:t>1952 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</a:rPr>
                        <a:t>3309 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</a:rPr>
                        <a:t>Level 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1E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ML-DSA-87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2592 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4627 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Level 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4828032" y="336499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SHIP uses ML-DSA-65 on WAN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56032" y="3529584"/>
            <a:ext cx="4206240" cy="1481328"/>
          </a:xfrm>
          <a:prstGeom prst="rect">
            <a:avLst/>
          </a:prstGeom>
          <a:solidFill>
            <a:srgbClr val="132337"/>
          </a:solidFill>
          <a:ln w="15240">
            <a:solidFill>
              <a:srgbClr val="E63B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56032" y="3529584"/>
            <a:ext cx="4206240" cy="50292"/>
          </a:xfrm>
          <a:prstGeom prst="rect">
            <a:avLst/>
          </a:prstGeom>
          <a:solidFill>
            <a:srgbClr val="E63B50"/>
          </a:solidFill>
          <a:ln w="12700">
            <a:solidFill>
              <a:srgbClr val="E63B5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02336" y="356616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Payload Inflation Challenge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02336" y="3858768"/>
            <a:ext cx="3913632" cy="10424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ECDH classical: ~64 bytes total handshake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ML-KEM-768 + ML-DSA-65: ~6,000+ bytes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Ethernet MTU → TCP fragmentation → +2.4 RTT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limit: 244 bytes — PQC not viable on radio layer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681728" y="3529584"/>
            <a:ext cx="4206240" cy="1481328"/>
          </a:xfrm>
          <a:prstGeom prst="rect">
            <a:avLst/>
          </a:prstGeom>
          <a:solidFill>
            <a:srgbClr val="132337"/>
          </a:solidFill>
          <a:ln w="15240">
            <a:solidFill>
              <a:srgbClr val="2ECC7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681728" y="3529584"/>
            <a:ext cx="4206240" cy="502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28032" y="356616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SHIP Mitigation Strategy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828032" y="3858768"/>
            <a:ext cx="3913632" cy="10424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initcwnd = 20 × MSS (gateway NIC config)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PQC handshake in 1 congestion window on LAN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fragmentation logic for CoAP/DTLS edge links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mode: X25519 + ML-KEM-768 (crypto-agility)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Access Control Layer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DP-FL Intrusion Detection  +  CP-ABE Fine-Grained Access Control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4242816" cy="4096512"/>
          </a:xfrm>
          <a:prstGeom prst="rect">
            <a:avLst/>
          </a:prstGeom>
          <a:solidFill>
            <a:srgbClr val="0D1B2A"/>
          </a:solidFill>
          <a:ln w="17780">
            <a:solidFill>
              <a:srgbClr val="00D4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024128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DP-FL  ·  Differential Privacy Federated Learning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84048" y="1389888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Mechanism: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62763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ΔW̃ⱼ = clip(ΔWⱼ, C) + N(0, σ²·C²·I)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901952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√(2·ln(1.25/δ)) · Δf / ε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47472" y="2212848"/>
          <a:ext cx="4059936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645152" y="960120"/>
            <a:ext cx="4242816" cy="4096512"/>
          </a:xfrm>
          <a:prstGeom prst="rect">
            <a:avLst/>
          </a:prstGeom>
          <a:solidFill>
            <a:srgbClr val="FFFFFF"/>
          </a:solidFill>
          <a:ln w="17780">
            <a:solidFill>
              <a:srgbClr val="9B59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5152" y="960120"/>
            <a:ext cx="54864" cy="409651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73168" y="1024128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CP-ABE  ·  Ciphertext-Policy Attribute-Based Encryption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773168" y="144475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Policy: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73168" y="1682496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in ciphertext via Boolean formula over user attributes (role ∧ hospital ∧ clearance)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73168" y="2084832"/>
            <a:ext cx="3931920" cy="14630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73168" y="210312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LSSS Matrix: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773168" y="2340864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compiled to (M, ρ): shares λᵢ = Mᵢ·v, secret s reconstructed only if attrs satisfy policy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73168" y="2743200"/>
            <a:ext cx="3931920" cy="14630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73168" y="276148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Encryption: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773168" y="2999232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 encrypted under policy; AES-256-GCM encrypts payload; CP-ABE encrypts DEK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73168" y="3401568"/>
            <a:ext cx="3931920" cy="14630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73168" y="3419856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 17: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773168" y="365760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RTBF → key revocation → IPFS delete → on-chain CID orphaned = cryptographic destruction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773168" y="4059936"/>
            <a:ext cx="3931920" cy="14630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73168" y="4078224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HIPAA: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773168" y="4315968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LSSS share threshold ensures 'minimum necessary' access; no over-provisioned decryption keys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Workflow: End-to-End SHIP Operations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Four-phase cryptographic pipeline from device to blockchain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54864" cy="5486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60120"/>
            <a:ext cx="2084832" cy="8229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15568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005840"/>
            <a:ext cx="1335024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Init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901952"/>
            <a:ext cx="2084832" cy="676656"/>
          </a:xfrm>
          <a:prstGeom prst="rect">
            <a:avLst/>
          </a:prstGeom>
          <a:solidFill>
            <a:srgbClr val="132337"/>
          </a:solidFill>
          <a:ln w="10160">
            <a:solidFill>
              <a:srgbClr val="F0A5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901952"/>
            <a:ext cx="45720" cy="67665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084832"/>
            <a:ext cx="310896" cy="31089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1938528"/>
            <a:ext cx="157276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IoMT: generate ephemeral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Curve25519 key pair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61872" y="2578608"/>
            <a:ext cx="54864" cy="109728"/>
          </a:xfrm>
          <a:prstGeom prst="rect">
            <a:avLst/>
          </a:prstGeom>
          <a:solidFill>
            <a:srgbClr val="F0A500">
              <a:alpha val="6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688336"/>
            <a:ext cx="2084832" cy="676656"/>
          </a:xfrm>
          <a:prstGeom prst="rect">
            <a:avLst/>
          </a:prstGeom>
          <a:solidFill>
            <a:srgbClr val="132337"/>
          </a:solidFill>
          <a:ln w="10160">
            <a:solidFill>
              <a:srgbClr val="F0A5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688336"/>
            <a:ext cx="45720" cy="67665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871216"/>
            <a:ext cx="310896" cy="31089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" y="2724912"/>
            <a:ext cx="157276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Gateway: O(1) lookup;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ECDH → K_sess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261872" y="3364992"/>
            <a:ext cx="54864" cy="109728"/>
          </a:xfrm>
          <a:prstGeom prst="rect">
            <a:avLst/>
          </a:prstGeom>
          <a:solidFill>
            <a:srgbClr val="F0A500">
              <a:alpha val="6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3474720"/>
            <a:ext cx="2084832" cy="676656"/>
          </a:xfrm>
          <a:prstGeom prst="rect">
            <a:avLst/>
          </a:prstGeom>
          <a:solidFill>
            <a:srgbClr val="132337"/>
          </a:solidFill>
          <a:ln w="10160">
            <a:solidFill>
              <a:srgbClr val="F0A5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474720"/>
            <a:ext cx="45720" cy="67665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657600"/>
            <a:ext cx="310896" cy="31089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3232" y="3511296"/>
            <a:ext cx="157276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HKDF derive session key;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MAC verify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261872" y="4151376"/>
            <a:ext cx="54864" cy="109728"/>
          </a:xfrm>
          <a:prstGeom prst="rect">
            <a:avLst/>
          </a:prstGeom>
          <a:solidFill>
            <a:srgbClr val="F0A500">
              <a:alpha val="6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4261104"/>
            <a:ext cx="2084832" cy="676656"/>
          </a:xfrm>
          <a:prstGeom prst="rect">
            <a:avLst/>
          </a:prstGeom>
          <a:solidFill>
            <a:srgbClr val="132337"/>
          </a:solidFill>
          <a:ln w="10160">
            <a:solidFill>
              <a:srgbClr val="F0A5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4261104"/>
            <a:ext cx="45720" cy="67665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443984"/>
            <a:ext cx="310896" cy="31089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3232" y="4297680"/>
            <a:ext cx="157276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AES-128-GCM session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92.22ms · PFS 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40864" y="2633472"/>
            <a:ext cx="109728" cy="36576"/>
          </a:xfrm>
          <a:prstGeom prst="rect">
            <a:avLst/>
          </a:prstGeom>
          <a:solidFill>
            <a:srgbClr val="8BAAB8"/>
          </a:solidFill>
          <a:ln w="12700">
            <a:solidFill>
              <a:srgbClr val="8BAA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40864" y="2596896"/>
            <a:ext cx="109728" cy="10972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8BAA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68880" y="960120"/>
            <a:ext cx="2084832" cy="8229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0" y="1115568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0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145536" y="1005840"/>
            <a:ext cx="1335024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468880" y="1901952"/>
            <a:ext cx="2084832" cy="676656"/>
          </a:xfrm>
          <a:prstGeom prst="rect">
            <a:avLst/>
          </a:prstGeom>
          <a:solidFill>
            <a:srgbClr val="132337"/>
          </a:solidFill>
          <a:ln w="10160">
            <a:solidFill>
              <a:srgbClr val="00D4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468880" y="1901952"/>
            <a:ext cx="45720" cy="67665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32888" y="2084832"/>
            <a:ext cx="310896" cy="3108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32888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926080" y="1938528"/>
            <a:ext cx="157276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LSTM trains 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traffic features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74720" y="2578608"/>
            <a:ext cx="54864" cy="109728"/>
          </a:xfrm>
          <a:prstGeom prst="rect">
            <a:avLst/>
          </a:prstGeom>
          <a:solidFill>
            <a:srgbClr val="00D4AA">
              <a:alpha val="6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68880" y="2688336"/>
            <a:ext cx="2084832" cy="676656"/>
          </a:xfrm>
          <a:prstGeom prst="rect">
            <a:avLst/>
          </a:prstGeom>
          <a:solidFill>
            <a:srgbClr val="132337"/>
          </a:solidFill>
          <a:ln w="10160">
            <a:solidFill>
              <a:srgbClr val="00D4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468880" y="2688336"/>
            <a:ext cx="45720" cy="67665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32888" y="2871216"/>
            <a:ext cx="310896" cy="3108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32888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926080" y="2724912"/>
            <a:ext cx="157276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gradient ΔWⱼ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backpropagation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474720" y="3364992"/>
            <a:ext cx="54864" cy="109728"/>
          </a:xfrm>
          <a:prstGeom prst="rect">
            <a:avLst/>
          </a:prstGeom>
          <a:solidFill>
            <a:srgbClr val="00D4AA">
              <a:alpha val="6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68880" y="3474720"/>
            <a:ext cx="2084832" cy="676656"/>
          </a:xfrm>
          <a:prstGeom prst="rect">
            <a:avLst/>
          </a:prstGeom>
          <a:solidFill>
            <a:srgbClr val="132337"/>
          </a:solidFill>
          <a:ln w="10160">
            <a:solidFill>
              <a:srgbClr val="00D4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468880" y="3474720"/>
            <a:ext cx="45720" cy="67665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32888" y="3657600"/>
            <a:ext cx="310896" cy="3108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32888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926080" y="3511296"/>
            <a:ext cx="157276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+ inject DP noise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ΔW̃ⱼ = clip + N(0,σ²C²I)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474720" y="4151376"/>
            <a:ext cx="54864" cy="109728"/>
          </a:xfrm>
          <a:prstGeom prst="rect">
            <a:avLst/>
          </a:prstGeom>
          <a:solidFill>
            <a:srgbClr val="00D4AA">
              <a:alpha val="6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68880" y="4261104"/>
            <a:ext cx="2084832" cy="676656"/>
          </a:xfrm>
          <a:prstGeom prst="rect">
            <a:avLst/>
          </a:prstGeom>
          <a:solidFill>
            <a:srgbClr val="132337"/>
          </a:solidFill>
          <a:ln w="10160">
            <a:solidFill>
              <a:srgbClr val="00D4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468880" y="4261104"/>
            <a:ext cx="45720" cy="67665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32888" y="4443984"/>
            <a:ext cx="310896" cy="3108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32888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926080" y="4297680"/>
            <a:ext cx="157276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 aggregation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95.48% accuracy ✓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53712" y="2633472"/>
            <a:ext cx="109728" cy="36576"/>
          </a:xfrm>
          <a:prstGeom prst="rect">
            <a:avLst/>
          </a:prstGeom>
          <a:solidFill>
            <a:srgbClr val="8BAAB8"/>
          </a:solidFill>
          <a:ln w="12700">
            <a:solidFill>
              <a:srgbClr val="8BAAB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53712" y="2596896"/>
            <a:ext cx="109728" cy="10972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8BAAB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81728" y="960120"/>
            <a:ext cx="2084832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773168" y="1115568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73168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358384" y="1005840"/>
            <a:ext cx="1335024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681728" y="1901952"/>
            <a:ext cx="2084832" cy="676656"/>
          </a:xfrm>
          <a:prstGeom prst="rect">
            <a:avLst/>
          </a:prstGeom>
          <a:solidFill>
            <a:srgbClr val="132337"/>
          </a:solidFill>
          <a:ln w="1016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681728" y="1901952"/>
            <a:ext cx="45720" cy="67665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45736" y="2084832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45736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138928" y="1938528"/>
            <a:ext cx="157276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DEK;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payload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687568" y="2578608"/>
            <a:ext cx="54864" cy="109728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681728" y="2688336"/>
            <a:ext cx="2084832" cy="676656"/>
          </a:xfrm>
          <a:prstGeom prst="rect">
            <a:avLst/>
          </a:prstGeom>
          <a:solidFill>
            <a:srgbClr val="132337"/>
          </a:solidFill>
          <a:ln w="1016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4681728" y="2688336"/>
            <a:ext cx="45720" cy="67665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745736" y="2871216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45736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138928" y="2724912"/>
            <a:ext cx="157276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CP-ABE encapsulate DEK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access policy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687568" y="3364992"/>
            <a:ext cx="54864" cy="109728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681728" y="3474720"/>
            <a:ext cx="2084832" cy="676656"/>
          </a:xfrm>
          <a:prstGeom prst="rect">
            <a:avLst/>
          </a:prstGeom>
          <a:solidFill>
            <a:srgbClr val="132337"/>
          </a:solidFill>
          <a:ln w="1016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4681728" y="3474720"/>
            <a:ext cx="45720" cy="67665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745736" y="3657600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45736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5138928" y="3511296"/>
            <a:ext cx="157276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ciphertext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IPFS cluster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687568" y="4151376"/>
            <a:ext cx="54864" cy="109728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681728" y="4261104"/>
            <a:ext cx="2084832" cy="676656"/>
          </a:xfrm>
          <a:prstGeom prst="rect">
            <a:avLst/>
          </a:prstGeom>
          <a:solidFill>
            <a:srgbClr val="132337"/>
          </a:solidFill>
          <a:ln w="1016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4681728" y="4261104"/>
            <a:ext cx="45720" cy="67665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45736" y="4443984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745736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5138928" y="4297680"/>
            <a:ext cx="157276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CID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SHA-256(content) ✓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6766560" y="2633472"/>
            <a:ext cx="109728" cy="36576"/>
          </a:xfrm>
          <a:prstGeom prst="rect">
            <a:avLst/>
          </a:prstGeom>
          <a:solidFill>
            <a:srgbClr val="8BAAB8"/>
          </a:solidFill>
          <a:ln w="12700">
            <a:solidFill>
              <a:srgbClr val="8BAAB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766560" y="2596896"/>
            <a:ext cx="109728" cy="10972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8BAAB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894576" y="960120"/>
            <a:ext cx="2084832" cy="8229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6986016" y="1115568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986016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7571232" y="1005840"/>
            <a:ext cx="1335024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6894576" y="1901952"/>
            <a:ext cx="2084832" cy="676656"/>
          </a:xfrm>
          <a:prstGeom prst="rect">
            <a:avLst/>
          </a:prstGeom>
          <a:solidFill>
            <a:srgbClr val="132337"/>
          </a:solidFill>
          <a:ln w="10160">
            <a:solidFill>
              <a:srgbClr val="9B59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6894576" y="1901952"/>
            <a:ext cx="45720" cy="67665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58584" y="2084832"/>
            <a:ext cx="310896" cy="310896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958584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7351776" y="1938528"/>
            <a:ext cx="157276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tx: {CID,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hash, metadata}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7900416" y="2578608"/>
            <a:ext cx="54864" cy="109728"/>
          </a:xfrm>
          <a:prstGeom prst="rect">
            <a:avLst/>
          </a:prstGeom>
          <a:solidFill>
            <a:srgbClr val="9B59B6">
              <a:alpha val="6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894576" y="2688336"/>
            <a:ext cx="2084832" cy="676656"/>
          </a:xfrm>
          <a:prstGeom prst="rect">
            <a:avLst/>
          </a:prstGeom>
          <a:solidFill>
            <a:srgbClr val="132337"/>
          </a:solidFill>
          <a:ln w="10160">
            <a:solidFill>
              <a:srgbClr val="9B59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6894576" y="2688336"/>
            <a:ext cx="45720" cy="67665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958584" y="2871216"/>
            <a:ext cx="310896" cy="310896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958584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7351776" y="2724912"/>
            <a:ext cx="157276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+ ML-KEM-768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ML-DSA-65 auth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7900416" y="3364992"/>
            <a:ext cx="54864" cy="109728"/>
          </a:xfrm>
          <a:prstGeom prst="rect">
            <a:avLst/>
          </a:prstGeom>
          <a:solidFill>
            <a:srgbClr val="9B59B6">
              <a:alpha val="6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894576" y="3474720"/>
            <a:ext cx="2084832" cy="676656"/>
          </a:xfrm>
          <a:prstGeom prst="rect">
            <a:avLst/>
          </a:prstGeom>
          <a:solidFill>
            <a:srgbClr val="132337"/>
          </a:solidFill>
          <a:ln w="10160">
            <a:solidFill>
              <a:srgbClr val="9B59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6894576" y="3474720"/>
            <a:ext cx="45720" cy="67665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958584" y="3657600"/>
            <a:ext cx="310896" cy="310896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958584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7351776" y="3511296"/>
            <a:ext cx="157276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initcwnd = 20×MSS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50ms PQC latency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7900416" y="4151376"/>
            <a:ext cx="54864" cy="109728"/>
          </a:xfrm>
          <a:prstGeom prst="rect">
            <a:avLst/>
          </a:prstGeom>
          <a:solidFill>
            <a:srgbClr val="9B59B6">
              <a:alpha val="6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894576" y="4261104"/>
            <a:ext cx="2084832" cy="676656"/>
          </a:xfrm>
          <a:prstGeom prst="rect">
            <a:avLst/>
          </a:prstGeom>
          <a:solidFill>
            <a:srgbClr val="132337"/>
          </a:solidFill>
          <a:ln w="10160">
            <a:solidFill>
              <a:srgbClr val="9B59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6894576" y="4261104"/>
            <a:ext cx="45720" cy="67665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958584" y="4443984"/>
            <a:ext cx="310896" cy="310896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958584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7351776" y="4297680"/>
            <a:ext cx="157276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LTL contract validates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CID committed ✓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improvements across all four cryptographic components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7744" y="969264"/>
            <a:ext cx="164592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7744" y="969264"/>
            <a:ext cx="64008" cy="12984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04241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92.22 ms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9184" y="1682496"/>
            <a:ext cx="14630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LAAP Auth Latency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329ms for RSA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02536" y="969264"/>
            <a:ext cx="164592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02536" y="969264"/>
            <a:ext cx="64008" cy="12984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93976" y="104241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71.96%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093976" y="1682496"/>
            <a:ext cx="14630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Reduction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RSA-3072 baseline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67328" y="969264"/>
            <a:ext cx="164592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67328" y="969264"/>
            <a:ext cx="64008" cy="1298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58768" y="104241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95.48%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858768" y="1682496"/>
            <a:ext cx="14630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DP-FL IDS Accuracy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ε=2.0, δ=1e-5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32120" y="969264"/>
            <a:ext cx="164592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32120" y="969264"/>
            <a:ext cx="64008" cy="12984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104241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 ms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623560" y="1682496"/>
            <a:ext cx="14630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 Latency Penalty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initcwnd tuning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96912" y="969264"/>
            <a:ext cx="164592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96912" y="969264"/>
            <a:ext cx="64008" cy="12984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88352" y="104241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388352" y="1682496"/>
            <a:ext cx="14630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LTL Counterexamples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invariants verified</a:t>
            </a:r>
            <a:endParaRPr lang="en-US" sz="10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37744" y="2395728"/>
          <a:ext cx="4297680" cy="25786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2359152"/>
          <a:ext cx="4114800" cy="2615184"/>
        </p:xfrm>
        <a:graphic>
          <a:graphicData uri="http://schemas.openxmlformats.org/drawingml/2006/table">
            <a:tbl>
              <a:tblPr/>
              <a:tblGrid>
                <a:gridCol w="1828800"/>
                <a:gridCol w="1115568"/>
                <a:gridCol w="11704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Classical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SHIP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Auth Latency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329 ms (RSA)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7A50"/>
                          </a:solidFill>
                        </a:rPr>
                        <a:t>92.22 ms ✓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Overhead vs RSA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Baseline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7A50"/>
                          </a:solidFill>
                        </a:rPr>
                        <a:t>–71.96% ✓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Server Lookup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O(n) linear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7A50"/>
                          </a:solidFill>
                        </a:rPr>
                        <a:t>O(1) constant ✓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IDS Accuracy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~70% (central)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7A50"/>
                          </a:solidFill>
                        </a:rPr>
                        <a:t>95.48% DP-FL ✓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Quantum Safe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NONE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7A50"/>
                          </a:solidFill>
                        </a:rPr>
                        <a:t>Full (M-LWE) ✓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PQC Handshake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N/A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7A50"/>
                          </a:solidFill>
                        </a:rPr>
                        <a:t>~50ms (tuned) ✓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Smart Contract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Unverified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7A50"/>
                          </a:solidFill>
                        </a:rPr>
                        <a:t>LTL Proven ✓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GDPR Art. 17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Not possible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7A50"/>
                          </a:solidFill>
                        </a:rPr>
                        <a:t>Key Revoke ✓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Regulatory Compliance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achieves all objectives — fully HIPAA &amp; GDPR-compliant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54864" cy="5486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" y="1005840"/>
            <a:ext cx="2834640" cy="1133856"/>
          </a:xfrm>
          <a:prstGeom prst="rect">
            <a:avLst/>
          </a:prstGeom>
          <a:solidFill>
            <a:srgbClr val="132337"/>
          </a:solidFill>
          <a:ln w="15240">
            <a:solidFill>
              <a:srgbClr val="F0A5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7744" y="1005840"/>
            <a:ext cx="283464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261872"/>
            <a:ext cx="438912" cy="43891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042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LAAP Authentication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1353312"/>
            <a:ext cx="2688336" cy="6766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92.22 ms · 71.96% reduction · O(1) server search · PFS guaranteed · Curve25519 side-channel resistant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834640" cy="1133856"/>
          </a:xfrm>
          <a:prstGeom prst="rect">
            <a:avLst/>
          </a:prstGeom>
          <a:solidFill>
            <a:srgbClr val="132337"/>
          </a:solidFill>
          <a:ln w="15240">
            <a:solidFill>
              <a:srgbClr val="00D4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834640" cy="502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1261872"/>
            <a:ext cx="438912" cy="43891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58768" y="1042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Security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73552" y="1353312"/>
            <a:ext cx="2688336" cy="6766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203 ML-KEM + FIPS 204 ML-DSA · M-LWE hardness · Quantum-resistant WAN · Hybrid crypto-agility mode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63056" y="1005840"/>
            <a:ext cx="2834640" cy="1133856"/>
          </a:xfrm>
          <a:prstGeom prst="rect">
            <a:avLst/>
          </a:prstGeom>
          <a:solidFill>
            <a:srgbClr val="132337"/>
          </a:solidFill>
          <a:ln w="1524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1005840"/>
            <a:ext cx="2834640" cy="502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1261872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21424" y="1042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6208" y="1353312"/>
            <a:ext cx="2688336" cy="6766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DP-FedAvg · ε=2.0 · 95.48% IDS accuracy · (ε,δ)-DP formal guarantee · No raw PHI ever leaves gateway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" y="2249424"/>
            <a:ext cx="4315968" cy="2724912"/>
          </a:xfrm>
          <a:prstGeom prst="rect">
            <a:avLst/>
          </a:prstGeom>
          <a:solidFill>
            <a:srgbClr val="132337"/>
          </a:solidFill>
          <a:ln w="15240">
            <a:solidFill>
              <a:srgbClr val="F0A5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37744" y="2249424"/>
            <a:ext cx="4315968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304288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Compliance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2336" y="2688336"/>
            <a:ext cx="3986784" cy="21579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Minimum Necessary: LSSS attribute threshold — mathematical enforcement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PHI on-chain: only CID hashes &amp; policy metadata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CP-ABE enforces role-based data access at cryptographic level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completeness: LTL liveness invariant G(access → F audit_logged)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73168" y="2249424"/>
            <a:ext cx="4315968" cy="2724912"/>
          </a:xfrm>
          <a:prstGeom prst="rect">
            <a:avLst/>
          </a:prstGeom>
          <a:solidFill>
            <a:srgbClr val="132337"/>
          </a:solidFill>
          <a:ln w="15240">
            <a:solidFill>
              <a:srgbClr val="9B59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73168" y="2249424"/>
            <a:ext cx="4315968" cy="5029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304288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Article 17 — Right to Be Forgotten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2688336"/>
            <a:ext cx="3986784" cy="21579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RTBF Request → Smart contract triggers key revocation event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IPFS record permanently deleted from distributed storage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CP-ABE decryption keys cryptographically revoked — data inaccessible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On-chain CID becomes orphaned hash: anonymous audit trail preserved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4887468"/>
            <a:ext cx="8631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is the first unified framework combining lightweight IoMT auth · quantum resistance · DP-FL privacy · LTL formal verification · full HIPAA/GDPR compliance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Research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key directions for real-world clinical deployment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8631936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05840"/>
            <a:ext cx="64008" cy="7132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97280"/>
            <a:ext cx="1024128" cy="5303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97280"/>
            <a:ext cx="102412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(1–2 yrs)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81328" y="1078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 on IoMT Hardware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81328" y="1353312"/>
            <a:ext cx="7278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ARMv9.5-A PQC acceleration → ML-KEM on Cortex-M33; direct device-layer quantum resistance without gateway relay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1719072"/>
            <a:ext cx="54864" cy="109728"/>
          </a:xfrm>
          <a:prstGeom prst="rect">
            <a:avLst/>
          </a:prstGeom>
          <a:solidFill>
            <a:srgbClr val="00D4AA">
              <a:alpha val="5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828800"/>
            <a:ext cx="8631936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1828800"/>
            <a:ext cx="64008" cy="7132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1920240"/>
            <a:ext cx="1024128" cy="5303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920240"/>
            <a:ext cx="102412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(1–2 yrs)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81328" y="1901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KEM Deployment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81328" y="2176272"/>
            <a:ext cx="7278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 RFC 9420 hybrid: X25519 + ML-KEM-768 → crypto-agility; hedge against both quantum realization &amp; lattice cryptanalysis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" y="2542032"/>
            <a:ext cx="54864" cy="109728"/>
          </a:xfrm>
          <a:prstGeom prst="rect">
            <a:avLst/>
          </a:prstGeom>
          <a:solidFill>
            <a:srgbClr val="F0A500">
              <a:alpha val="5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651760"/>
            <a:ext cx="8631936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651760"/>
            <a:ext cx="64008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2743200"/>
            <a:ext cx="1024128" cy="5303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743200"/>
            <a:ext cx="102412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Term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(2–4 yrs)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81328" y="2724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Byzantine-Resilient FL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81328" y="2999232"/>
            <a:ext cx="7278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Krum &amp; Bulyan aggregation protocols for adversarial gateway nodes; protect against poisoning &amp; model inversion attacks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3232" y="3364992"/>
            <a:ext cx="54864" cy="109728"/>
          </a:xfrm>
          <a:prstGeom prst="rect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3474720"/>
            <a:ext cx="8631936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474720"/>
            <a:ext cx="64008" cy="71323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3566160"/>
            <a:ext cx="1024128" cy="53035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566160"/>
            <a:ext cx="102412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Term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(2–4 yrs)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481328" y="3547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11073 / HL7 FHIR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81328" y="3822192"/>
            <a:ext cx="7278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SHIP within IEEE 11073 PHD &amp; HL7 FHIR interoperability specifications; prerequisite for hospital regulatory approval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3232" y="4187952"/>
            <a:ext cx="54864" cy="109728"/>
          </a:xfrm>
          <a:prstGeom prst="rect">
            <a:avLst/>
          </a:prstGeom>
          <a:solidFill>
            <a:srgbClr val="9B59B6">
              <a:alpha val="5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4297680"/>
            <a:ext cx="8631936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4297680"/>
            <a:ext cx="64008" cy="7132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4389120"/>
            <a:ext cx="1024128" cy="5303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389120"/>
            <a:ext cx="102412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(4+ yrs)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481328" y="4370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ZK-Proof Identity Layer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481328" y="4645152"/>
            <a:ext cx="7278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SNARK-based zero-knowledge proofs for consent &amp; identity verification; full attribute privacy beyond CP-ABE scope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Format Citations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43159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24128"/>
            <a:ext cx="64008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042416"/>
            <a:ext cx="41148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Y. Zhu et al., "LAAP: Lightweight Anonymous Authentication Protocol for IoT," Wireless Comm. &amp; Mobile Computing, 2022. doi:10.1155/2022/8768928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1444752"/>
            <a:ext cx="43159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444752"/>
            <a:ext cx="64008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463040"/>
            <a:ext cx="41148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NIST, "FIPS 203: Module-Lattice-Based Key-Encapsulation Mechanism (ML-KEM)," August 2024.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865376"/>
            <a:ext cx="43159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865376"/>
            <a:ext cx="64008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883664"/>
            <a:ext cx="41148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NIST, "FIPS 204: Module-Lattice-Based Digital Signature Algorithm (ML-DSA)," August 2024.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286000"/>
            <a:ext cx="43159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286000"/>
            <a:ext cx="64008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304288"/>
            <a:ext cx="41148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M. Kannwischer et al., "Benchmarking ML-KEM and ML-DSA on ARM Cortex-M0+," arXiv:2603.19340v4, 2025.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2706624"/>
            <a:ext cx="43159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706624"/>
            <a:ext cx="64008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2724912"/>
            <a:ext cx="41148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M. Anwar &amp; M. Hoque, "Optimizing Privacy-Accuracy Trade-Off in IoT IDS with DP," Semantic Scholar, 2024.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81728" y="1024128"/>
            <a:ext cx="43159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1024128"/>
            <a:ext cx="64008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042416"/>
            <a:ext cx="41148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C. Dwork &amp; A. Roth, "The Algorithmic Foundations of Differential Privacy," Foundations &amp; Trends TCS, vol.9, 2014.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81728" y="1444752"/>
            <a:ext cx="43159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1444752"/>
            <a:ext cx="64008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463040"/>
            <a:ext cx="41148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Bethencourt, Sahai &amp; Waters, "Ciphertext-Policy Attribute-Based Encryption," IEEE S&amp;P, 2007.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81728" y="1865376"/>
            <a:ext cx="43159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81728" y="1865376"/>
            <a:ext cx="64008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883664"/>
            <a:ext cx="41148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NIST, "NIST Releases First 3 Finalized Post-Quantum Encryption Standards," nist.gov, August 2024.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81728" y="2286000"/>
            <a:ext cx="43159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81728" y="2286000"/>
            <a:ext cx="64008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304288"/>
            <a:ext cx="41148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NIST CSRC, "Impact of Data-Heavy PQC on TLS 1.3 TTLB," 5th PQC Standardization Conference, 2024.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81728" y="2706624"/>
            <a:ext cx="43159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81728" y="2706624"/>
            <a:ext cx="64008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724912"/>
            <a:ext cx="41148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PMC, "Advancing Compliance with HIPAA &amp; GDPR in Healthcare: A Blockchain Strategy," 2025. PMC12563691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457200"/>
            <a:ext cx="3657600" cy="3657600"/>
          </a:xfrm>
          <a:prstGeom prst="ellipse">
            <a:avLst/>
          </a:prstGeom>
          <a:solidFill>
            <a:srgbClr val="00D4AA">
              <a:alpha val="12000"/>
            </a:srgbClr>
          </a:solidFill>
          <a:ln w="762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0" y="1005840"/>
            <a:ext cx="4389120" cy="4389120"/>
          </a:xfrm>
          <a:prstGeom prst="ellipse">
            <a:avLst/>
          </a:prstGeom>
          <a:solidFill>
            <a:srgbClr val="00D4AA">
              <a:alpha val="10000"/>
            </a:srgbClr>
          </a:solidFill>
          <a:ln w="762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3474720"/>
            <a:ext cx="2560320" cy="2560320"/>
          </a:xfrm>
          <a:prstGeom prst="ellipse">
            <a:avLst/>
          </a:prstGeom>
          <a:solidFill>
            <a:srgbClr val="00D4AA">
              <a:alpha val="8000"/>
            </a:srgbClr>
          </a:solidFill>
          <a:ln w="762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05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822960" y="19933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22960" y="2633472"/>
            <a:ext cx="68580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816352"/>
            <a:ext cx="1554480" cy="274320"/>
          </a:xfrm>
          <a:prstGeom prst="rect">
            <a:avLst/>
          </a:prstGeom>
          <a:solidFill>
            <a:srgbClr val="132337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16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127248"/>
            <a:ext cx="15544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Curve25519 ECDH · O(1) complexity · PFS mechanism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87168" y="2816352"/>
            <a:ext cx="1554480" cy="274320"/>
          </a:xfrm>
          <a:prstGeom prst="rect">
            <a:avLst/>
          </a:prstGeom>
          <a:solidFill>
            <a:srgbClr val="132337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2816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87168" y="3127248"/>
            <a:ext cx="15544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ML-KEM/ML-DSA lattice math · FIPS 203/204 · payload mitigation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51376" y="2816352"/>
            <a:ext cx="1554480" cy="274320"/>
          </a:xfrm>
          <a:prstGeom prst="rect">
            <a:avLst/>
          </a:prstGeom>
          <a:solidFill>
            <a:srgbClr val="132337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51376" y="2816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DP-FL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51376" y="3127248"/>
            <a:ext cx="15544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 calibration · ε-δ privacy · FedAvg aggregation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15584" y="2816352"/>
            <a:ext cx="1554480" cy="274320"/>
          </a:xfrm>
          <a:prstGeom prst="rect">
            <a:avLst/>
          </a:prstGeom>
          <a:solidFill>
            <a:srgbClr val="132337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15584" y="2816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CP-ABE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15584" y="3127248"/>
            <a:ext cx="15544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LSSS matrix · bilinear pairings · GDPR key revocation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79792" y="2816352"/>
            <a:ext cx="1554480" cy="274320"/>
          </a:xfrm>
          <a:prstGeom prst="rect">
            <a:avLst/>
          </a:prstGeom>
          <a:solidFill>
            <a:srgbClr val="132337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9792" y="2816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79792" y="3127248"/>
            <a:ext cx="15544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LTL invariants · SPIN model checking · safety &amp; liveness proofs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2960" y="46817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 ·  [Roll No.]  ·  MUJ CSE  ·  Jan–May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Blockchain-Enabled Quantum-Resistant Healthcare Systems</dc:title>
  <dc:subject>PptxGenJS Presentation</dc:subject>
  <dc:creator>Student, MUJ</dc:creator>
  <cp:lastModifiedBy>Student, MUJ</cp:lastModifiedBy>
  <cp:revision>1</cp:revision>
  <dcterms:created xsi:type="dcterms:W3CDTF">2026-04-13T07:13:33Z</dcterms:created>
  <dcterms:modified xsi:type="dcterms:W3CDTF">2026-04-13T07:13:33Z</dcterms:modified>
</cp:coreProperties>
</file>